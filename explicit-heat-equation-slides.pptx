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 แล้วบอกหัวข้อ: วันนี้จะนำเสนอวิธีเชิงตัวเลขแบบ explicit สำหรับแก้สมการความร้อน ซึ่งเป็นตัวอย่างหลักของสมการเชิงอนุพันธ์ย่อยแบบพาราโบลิก อ้างอิงจากหัวข้อ 21.6 ของหนังสือ Kreyszig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ปัญหาคือหาอุณหภูมิ u(x,t) ในแท่งโลหะที่หุ้มฉนวนด้านข้าง ความร้อนจึงไหลแค่ตามแนวแท่ง มีสามส่วน คือสมการความร้อน เงื่อนไขเริ่มต้นที่บอกอุณหภูมิตอน t = 0 และเงื่อนไขขอบที่บอกว่าปลายทั้งสองถูกรักษาไว้ที่ 0 องศา ถ้า f(x) ซับซ้อนหรือเงื่อนไขขอบเปลี่ยนตามเวลา การหาคำตอบแม่นตรงจะยาก จึงต้องใช้วิธีเชิงตัวเลข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แบ่งแกน x ทีละ h และแกนเวลาทีละ k ค่าที่จุดตาราง (i, j) แทนอุณหภูมิที่ตำแหน่ง x = ih และเวลา t = jk จุดสีน้ำเงินแถวล่างเรารู้จากเงื่อนไขเริ่มต้น จุดสีเทาที่ขอบรู้จากเงื่อนไขขอบ งานของเราคือคำนวณจุดภายในทั้งหมดทีละแถวจากล่างขึ้นบน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อนุพันธ์ตามเวลาใช้ผลต่างไปข้างหน้า เพราะเรารู้แค่ค่าที่เวลาปัจจุบันและอยากเดินไปข้างหน้า ส่วนอนุพันธ์อันดับสองตาม x ใช้ผลต่างกลาง ซึ่งแม่นยำระดับ h กำลังสอง เมื่อแทนทั้งสองลงในสมการความร้อนจะได้สมการ (4) ในหนังสือ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เริ่มจากอนุพันธ์ตามเวลา กระจายอนุกรมเทย์เลอร์ของ u ที่เวลา t+k รอบเวลา t โดยให้ x คงที่ ย้าย u ไปฝั่งซ้ายแล้วหารด้วย k จะเห็นว่าผลต่างไปข้างหน้าเท่ากับ ∂u/∂t บวกพจน์ที่เหลือ ซึ่งพจน์ใหญ่สุดคือ k/2 คูณอนุพันธ์อันดับสอง จึงเขียนว่าความคลาดเคลื่อนตัดปลายเป็น O(k) คือถ้าลด k ครึ่งหนึ่ง ความคลาดเคลื่อนลดลงประมาณครึ่งหนึ่ง เรียกว่าแม่นยำอันดับหนึ่ง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สำหรับอนุพันธ์อันดับสองตาม x กระจายเทย์เลอร์สองข้าง คือไปทางขวาระยะ h และทางซ้ายระยะ h เครื่องหมายของพจน์กำลังคี่จะสลับกัน พอบวกสองสมการ พจน์ h u′ และ h³ u‴ หักล้างกันหมด เหลือ 2u บวก h² u″ บวก h⁴/12 u⁽⁴⁾ ย้ายข้างแล้วหารด้วย h² ได้สูตรผลต่างกลาง ความคลาดเคลื่อนตัดปลายเป็น O(h²) ถ้าลด h ครึ่งหนึ่ง ความคลาดเคลื่อนลดลงประมาณสี่เท่า แม่นกว่าผลต่างไปข้างหน้าเพราะการหักล้างของพจน์กำลังคี่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พอได้สูตรผลต่างทั้งสองแล้ว แทนลงในสมการความร้อนได้สมการ (4) คูณด้วย k แล้วแทน r = k/h² ย้ายข้างและรวมพจน์ u(i,j) ได้สูตร (5) ความคลาดเคลื่อนตัดปลายของทั้งวิธีคือ O(k) บวก O(h²) ซึ่งเข้าใกล้ศูนย์เมื่อ h และ k เล็กลง แปลว่าวิธีนี้สอดคล้องกับสมการ แต่ทฤษฎีบทสมมูลของ Lax บอกว่าจะลู่เข้าสู่คำตอบจริงได้ ต้องเสถียรด้วย ซึ่งนำไปสู่เงื่อนไข r ≤ ½ ในสไลด์ถัดไป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จัดรูปสมการ (4) โดยให้ r = k/h² จะได้สูตร (5) สังเกตว่าค่าใหม่ที่จุดสีแดงคำนวณได้ทันทีจากสามจุดสีน้ำเงินในแถวก่อนหน้า ไม่ต้องแก้ระบบสมการเหมือนวิธี implicit นี่คือเหตุผลที่เรียกว่า explicit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เงื่อนไขสำคัญของวิธีนี้คือ r ต้องไม่เกินครึ่ง ตารางนี้มาจาก Example 1 ในหนังสือ ถ้าใช้ r = 0.25 ค่าที่ได้ใกล้คำตอบแม่นตรงมาก แต่ถ้าใช้ r = 1 ค่าต่ำกว่าจริงตั้งแต่ก้าวแรก และคลาดเพิ่มขึ้นเรื่อยๆ จนถึง 35% ที่ t = 0.2 สไลด์ถัดไปจะอธิบายว่าทำไม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อธิบายสองมุม มุมแรก สูตร (5) คือค่าเฉลี่ยถ่วงน้ำหนักที่น้ำหนักรวมกันได้ 1 ถ้าน้ำหนักไม่ติดลบ ค่าใหม่จะอยู่ระหว่างค่าเดิม ความคลาดเคลื่อนจึงไม่โต แต่ถ้า r เกินครึ่ง น้ำหนักของจุดเดิมติดลบ ค่าพุ่งเกินได้ มุมที่สอง ดูความคลาดเคลื่อนที่สลับบวกลบทุกจุด แทนในสูตรได้ตัวคูณ G = 1 − 4r ต่อก้าว ต้องการ |G| ≤ 1 จึงได้ r ≤ ½ ถ้า r = 1 ความคลาดเคลื่อนโตสามเท่าทุกก้าว ผลจากการวิเคราะห์ von Neumann ทั่วไปคือ G = 1 − 4r sin²(βh/2) กรณีแย่สุดก็คือแบบฟันเลื่อยนี่เอง ส่วน Example 1 ที่ r = 1 ไม่ระเบิดให้เห็นเพราะค่าเริ่มต้น sin πx ไม่มีความถี่สูง และทำแค่ 5 ก้าว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โจทย์ข้อ 5 ให้แท่งยาว 10 ฟุต อุณหภูมิเริ่มต้น x(1 − 0.1x) ใช้ h = 1 และ k = 0.5 ขั้นแรกหา r ได้ 0.5 พอดี ผ่านเงื่อนไข เมื่อ r = ½ สูตรลดรูปเหลือค่าเฉลี่ยของจุดซ้ายกับขวา ทำให้คิดมือได้ง่ายมาก และเพราะค่าเริ่มต้นสมมาตรรอบกลางแท่ง จึงคำนวณแค่ครึ่งเดียว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ตารางนี้คือผลทั้ง 4 ก้าว แต่ละช่องคือค่าเฉลี่ยของช่องซ้ายและขวาในแถวก่อนหน้า แถวสีส้มคือคำตอบที่ t = 2 แถวสีเขียวคือคำตอบแม่นตรงจากอนุกรมฟูเรียร์ คลาดกันไม่เกินประมาณ 1 เปอร์เซ็นต์ ซึ่งถือว่าดีมากสำหรับตารางที่หยาบขนาด h =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สลับไปเปิดเว็บ เริ่มจากข้อ 5 กดถัดไปสักสองสามช่องให้เห็นการไฮไลต์ช่องต้นทาง กดเล่นอัตโนมัติ ชี้แถวค่าแม่นตรงใต้ตาราง จากนั้นเปลี่ยนเป็น Example 1 ด้วย r = 1 ให้เห็นป้ายไม่เสถียรและความคลาดเคลื่อน 8% ตั้งแต่ก้าวแรก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โค้ดหลักมีไม่ถึงสิบบรรทัด เก็บผลไว้ในเมทริกซ์ U ที่แถวคือเวลาและคอลัมน์คือตำแหน่ง แถวแรกคือค่าเริ่มต้น ในลูปใช้ slicing ของ NumPy คำนวณจุดภายในทุกจุดพร้อมกันตามสูตร (5) U[j, 2:] คือจุดขวา U[j, :-2] คือจุดซ้าย ส่วนค่าขอบเป็นศูนย์อยู่แล้ว ในไฟล์เต็มมีฟังก์ชันคำนวณค่าแม่นตรงจากอนุกรมฟูเรียร์ และกรณีปลายหุ้มฉนวนด้วย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สรุปสามข้อ ข้อดีคือง่ายและเร็วต่อก้าว ข้อจำกัดคือเงื่อนไข r ไม่เกินครึ่ง ทำให้ก้าวเวลาต้องเล็กมากเมื่อต้องการความละเอียดสูง และผลจากตัวอย่างใกล้คำตอบแม่นตรงในระดับ 1 ถึง 3 เปอร์เซ็นต์ ถ้าอาจารย์ถามถึงทางเลือก ให้พูดถึง Crank–Nicolson ที่เสถียรทุกค่า r แต่ต้องแก้ระบบสมการแบบสามแนวทแยงทุกก้าว ขอบคุณครับ/ค่ะ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1"/>
            <a:ext cx="105664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8202B"/>
                </a:solidFill>
                <a:latin typeface="Noto Serif Thai" pitchFamily="34" charset="0"/>
                <a:ea typeface="Noto Serif Thai" pitchFamily="34" charset="-122"/>
                <a:cs typeface="Noto Serif Tha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3261"/>
            <a:ext cx="10566400" cy="4091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82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1"/>
            <a:ext cx="105664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8202B"/>
                </a:solidFill>
                <a:latin typeface="Noto Serif Thai" pitchFamily="34" charset="0"/>
                <a:ea typeface="Noto Serif Thai" pitchFamily="34" charset="-122"/>
                <a:cs typeface="Noto Serif Tha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3261"/>
            <a:ext cx="10566400" cy="4091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82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hyperlink" Target="https://claude.ai/artifact/JGpjbwFBUtuK8LVV3FLPGa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F08A5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NUMERICAL METHODS FOR PDES · KREYSZIG §21.6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99640"/>
            <a:ext cx="10883392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5600" b="1" i="0" dirty="0">
                <a:solidFill>
                  <a:srgbClr val="F4F6F8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วิธีผลต่างสืบเนื่อง แบบ Explicit สำหรับ Parabolic PDEs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2800" y="4180840"/>
            <a:ext cx="6096000" cy="88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B5C9E"/>
              </a:gs>
              <a:gs pos="30000">
                <a:srgbClr val="6A9BD1"/>
              </a:gs>
              <a:gs pos="55000">
                <a:srgbClr val="F2C14E"/>
              </a:gs>
              <a:gs pos="78000">
                <a:srgbClr val="E8743B"/>
              </a:gs>
              <a:gs pos="100000">
                <a:srgbClr val="B4381F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812800" y="5407660"/>
            <a:ext cx="3518725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[ชื่อ-นามสกุล] · [รหัสนักศึกษา]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778500"/>
            <a:ext cx="302023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8C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[ชื่อวิชา] · [ภาคการศึกษา]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0113" y="5814060"/>
            <a:ext cx="48890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EB8C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อ้างอิง: E. Kreyszig, Advanced Engineering Mathematics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ปัญหา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0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อุณหภูมิในแท่งโลหะ ที่หุ้มฉนวนด้านข้าง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9267" y="2729230"/>
            <a:ext cx="50492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ความร้อนไหลตามแนวแท่งเท่านั้น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5500" y="3117850"/>
            <a:ext cx="4876800" cy="736600"/>
          </a:xfrm>
          <a:prstGeom prst="roundRect">
            <a:avLst>
              <a:gd name="adj" fmla="val 8621"/>
            </a:avLst>
          </a:prstGeom>
          <a:gradFill rotWithShape="1">
            <a:gsLst>
              <a:gs pos="0">
                <a:srgbClr val="2B5C9E"/>
              </a:gs>
              <a:gs pos="30000">
                <a:srgbClr val="F2C14E"/>
              </a:gs>
              <a:gs pos="50000">
                <a:srgbClr val="B4381F"/>
              </a:gs>
              <a:gs pos="70000">
                <a:srgbClr val="F2C14E"/>
              </a:gs>
              <a:gs pos="100000">
                <a:srgbClr val="2B5C9E"/>
              </a:gs>
            </a:gsLst>
            <a:lin ang="0" scaled="0"/>
          </a:gradFill>
          <a:ln w="25400">
            <a:solidFill>
              <a:srgbClr val="182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3994150"/>
            <a:ext cx="5842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0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 =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30800" y="3994150"/>
            <a:ext cx="5842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L</a:t>
            </a:r>
            <a:endParaRPr lang="en-US" sz="1400" dirty="0"/>
          </a:p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 =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618990"/>
            <a:ext cx="50492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ตอนเริ่ม (t = 0) อุณหภูมิเป็น f(x) แล้วค่อยๆ เย็นลง เพราะปลายทั้งสองข้างถูกรักษาไว้ที่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5375" y="2294255"/>
            <a:ext cx="5200650" cy="996950"/>
          </a:xfrm>
          <a:prstGeom prst="roundRect">
            <a:avLst>
              <a:gd name="adj" fmla="val 9873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880" y="2473960"/>
            <a:ext cx="488182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(1) สมการความร้อน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5880" y="2755900"/>
            <a:ext cx="48818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e>
                          <m:r>
                            <a:rPr lang="en-US" sz="20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e>
                          <m:r>
                            <a:rPr lang="en-US" sz="20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xx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20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u_t = c^2 u_xx</a:t>
                </a:r>
              </mc:Fallback>
            </mc:AlternateContent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75375" y="3424555"/>
            <a:ext cx="5200650" cy="996950"/>
          </a:xfrm>
          <a:prstGeom prst="roundRect">
            <a:avLst>
              <a:gd name="adj" fmla="val 9873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5880" y="3604260"/>
            <a:ext cx="488182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(2) เงื่อนไขเริ่มต้น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5880" y="3886200"/>
            <a:ext cx="48818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20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u(x,0)=f(x)</m:t>
                      </m:r>
                    </m:oMath>
                  </m:oMathPara>
                </a14:m>
              </mc:Choice>
              <mc:Fallback>
                <a:r>
                  <a:rPr lang="en-US" sz="20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u(x,0) = f(x)</a:t>
                </a:r>
              </mc:Fallback>
            </mc:AlternateContent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5375" y="4554855"/>
            <a:ext cx="5200650" cy="996950"/>
          </a:xfrm>
          <a:prstGeom prst="roundRect">
            <a:avLst>
              <a:gd name="adj" fmla="val 9873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5880" y="4734560"/>
            <a:ext cx="488182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(3) เงื่อนไขขอบ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5880" y="5016500"/>
            <a:ext cx="48818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20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u(0,t)=u(L,t)=0</m:t>
                      </m:r>
                    </m:oMath>
                  </m:oMathPara>
                </a14:m>
              </mc:Choice>
              <mc:Fallback>
                <a:r>
                  <a:rPr lang="en-US" sz="20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u(0,t) = u(L,t) = 0</a:t>
                </a:r>
              </mc:Fallback>
            </mc:AlternateContent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ตัวอย่างในการนำเสนอนี้ใช้ c = 1 · หนังสือแปลงให้ c = 1, L = 1 ได้ด้วยการเปลี่ยนตัวแปร (แบบฝึกหัด 21.6 ข้อ 1)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ขั้นที่ 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1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แบ่งโดเมนเป็นตาราง</a:t>
            </a:r>
            <a:endParaRPr lang="en-US" sz="3200" dirty="0"/>
          </a:p>
        </p:txBody>
      </p:sp>
      <p:pic>
        <p:nvPicPr>
          <p:cNvPr id="4" name="Image 0" descr="ตาราง x-t มีจุด 6 คอลัมน์ 5 แถว แถวล่างคือค่าเริ่มต้น คอลัมน์ซ้ายขวาคือขอบ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53261"/>
            <a:ext cx="52070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02300" y="5191761"/>
            <a:ext cx="368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47800" y="1953261"/>
            <a:ext cx="368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81150" y="5128261"/>
            <a:ext cx="368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4652011"/>
            <a:ext cx="26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27800" y="2731770"/>
            <a:ext cx="499694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8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=ih,</m:t>
                      </m:r>
                      <m:r>
                        <m:rPr>
                          <m:nor/>
                        </m:rPr>
                        <a:rPr lang="en-US" sz="1800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 xml:space="preserve">    </m:t>
                      </m:r>
                      <m:sSub>
                        <m:e>
                          <m:r>
                            <a:rPr lang="en-US" sz="18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=jk</m:t>
                      </m:r>
                    </m:oMath>
                  </m:oMathPara>
                </a14:m>
              </mc:Choice>
              <mc:Fallback>
                <a:r>
                  <a:rPr lang="en-US" sz="18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x_i = ih, t_j = jk</a:t>
                </a:r>
              </mc:Fallback>
            </mc:AlternateContent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27800" y="3229611"/>
            <a:ext cx="499694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8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≈u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8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8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e>
                              <m:r>
                                <a:rPr lang="en-US" sz="18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8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u_ij ≈ u(x_i, t_j)</a:t>
                </a:r>
              </mc:Fallback>
            </mc:AlternateContent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27800" y="3727450"/>
            <a:ext cx="49969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5C9E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●</a:t>
            </a: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 แถว j = 0 คือค่าเริ่มต้น f(x)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27800" y="4095750"/>
            <a:ext cx="49969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C97A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●</a:t>
            </a: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 คอลัมน์ซ้ายและขวา คือค่าขอบ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27800" y="4464050"/>
            <a:ext cx="49969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4381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○</a:t>
            </a: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 จุดภายใน คือค่าที่ต้องคำนวณ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ขั้นที่ 2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1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แทนอนุพันธ์ด้วยผลต่าง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6436"/>
            <a:ext cx="5149850" cy="1858010"/>
          </a:xfrm>
          <a:prstGeom prst="roundRect">
            <a:avLst>
              <a:gd name="adj" fmla="val 5297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212341"/>
            <a:ext cx="477718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อนุพันธ์ตามเวลา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2613661"/>
            <a:ext cx="477718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num>
                          <m:sSub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i,j+1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</m:num>
                        <m:den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 sz="16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u_t ≈ (u_{i,j+1} − u_ij)/k</a:t>
                </a:r>
              </mc:Fallback>
            </mc:AlternateContent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880" y="3025141"/>
            <a:ext cx="47771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ผลต่างไปข้างหน้า เพราะไม่มีข้อมูลก่อนเวลา t =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6175" y="1956436"/>
            <a:ext cx="5149850" cy="1858010"/>
          </a:xfrm>
          <a:prstGeom prst="roundRect">
            <a:avLst>
              <a:gd name="adj" fmla="val 5297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2080" y="2212341"/>
            <a:ext cx="477718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อนุพันธ์อันดับสองตาม 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82080" y="2613661"/>
            <a:ext cx="477718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xx</m:t>
                          </m:r>
                        </m:sub>
                      </m:sSub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num>
                          <m:sSub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i+1,j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i−1,j</m:t>
                              </m:r>
                            </m:sub>
                          </m:sSub>
                        </m:num>
                        <m:den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>
                <a:r>
                  <a:rPr lang="en-US" sz="16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u_xx ≈ (u_{i+1,j} − 2u_ij + u_{i−1,j})/h^2</a:t>
                </a:r>
              </mc:Fallback>
            </mc:AlternateContent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2080" y="3309620"/>
            <a:ext cx="47771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ผลต่างกลาง ใช้จุดซ้าย จุดเดิม และจุดขวา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4122420"/>
            <a:ext cx="10566400" cy="1135380"/>
          </a:xfrm>
          <a:prstGeom prst="roundRect">
            <a:avLst>
              <a:gd name="adj" fmla="val 8949"/>
            </a:avLst>
          </a:prstGeom>
          <a:solidFill>
            <a:srgbClr val="1820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600" y="4376420"/>
            <a:ext cx="102555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EB8C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แทนลงในสมการความร้อน (c = 1) ได้สมการผลต่าง (4)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7600" y="4683761"/>
            <a:ext cx="10255504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>
                        <m:num>
                          <m:r>
                            <a:rPr lang="en-US" sz="18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i,j+1</m:t>
                              </m:r>
                            </m:sub>
                          </m:sSub>
                          <m:r>
                            <a:rPr lang="en-US" sz="18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</m:e>
                      </m:d>
                      <m:r>
                        <a:rPr lang="en-US" sz="1800" i="1" dirty="0">
                          <a:solidFill>
                            <a:srgbClr val="F4F6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sz="18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i+1,j</m:t>
                              </m:r>
                            </m:sub>
                          </m:sSub>
                          <m:r>
                            <a:rPr lang="en-US" sz="18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e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  <m:r>
                            <a:rPr lang="en-US" sz="18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i−1,j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1800" dirty="0">
                          <a:solidFill>
                            <a:srgbClr val="F4F6F8"/>
                          </a:solidFill>
                          <a:latin typeface="Cambria Math" panose="02040503050406030204" pitchFamily="18" charset="0"/>
                        </a:rPr>
                        <m:t xml:space="preserve">        (4)</m:t>
                      </m:r>
                    </m:oMath>
                  </m:oMathPara>
                </a14:m>
              </mc:Choice>
              <mc:Fallback>
                <a:r>
                  <a:rPr lang="en-US" sz="1800" b="1" dirty="0">
                    <a:solidFill>
                      <a:srgbClr val="F4F6F8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(1/k)(u_{i,j+1} − u_ij) = (1/h^2)(u_{i+1,j} − 2u_ij + u_{i−1,j})   (4)</a:t>
                </a:r>
              </mc:Fallback>
            </mc:AlternateContent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พิสูจน์ด้วยอนุกรมเทย์เลอร์ · 1/3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9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ผลต่างไปข้างหน้าสำหรับ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b>
                      <m:e>
                        <m:r>
                          <a:rPr lang="en-US" sz="32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sz="32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</mc:Choice>
              <mc:Fallback>
                <a:r>
                  <a:rPr lang="en-US" sz="3200" b="1" i="0" dirty="0">
                    <a:solidFill>
                      <a:srgbClr val="18202B"/>
                    </a:solidFill>
                    <a:latin typeface="Noto Serif Thai" pitchFamily="18" charset="0"/>
                    <a:ea typeface="Noto Serif Thai" pitchFamily="18" charset="-122"/>
                    <a:cs typeface="Noto Serif Thai" pitchFamily="18" charset="-120"/>
                  </a:rPr>
                  <a:t>u_t</a:t>
                </a:r>
              </mc:Fallback>
            </mc:AlternateContent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0000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89000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กระจาย u รอบเวลา t โดยให้ x คงที่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230000"/>
            <a:ext cx="10307828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7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u(x,t+k)=u+k</m:t>
                      </m:r>
                      <m:sSub>
                        <m:e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num>
                          <m:sSup>
                            <m:e>
                              <m:r>
                                <a:rPr lang="en-US" sz="17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p>
                              <m:r>
                                <a:rPr lang="en-US" sz="17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b>
                        <m:e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tt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num>
                          <m:sSup>
                            <m:e>
                              <m:r>
                                <a:rPr lang="en-US" sz="17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p>
                              <m:r>
                                <a:rPr lang="en-US" sz="17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b>
                        <m:e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ttt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</mc:Choice>
              <mc:Fallback>
                <a:r>
                  <a:rPr lang="en-US" sz="17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u(x,t+k) = u + k u_t + (k^2/2!) u_tt + (k^3/3!) u_ttt + ...</a:t>
                </a:r>
              </mc:Fallback>
            </mc:AlternateContent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3020000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03000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ย้าย u ไปฝั่งซ้าย แล้วหารด้วย 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370000"/>
            <a:ext cx="10307828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>
                        <m:num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u(x,t+k)−u(x,t)</m:t>
                          </m:r>
                        </m:num>
                        <m:den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  <m:r>
                        <a:rPr lang="en-US" sz="17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num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num>
                        <m:den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e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tt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</mc:Choice>
              <mc:Fallback>
                <a:r>
                  <a:rPr lang="en-US" sz="17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[u(x,t+k) − u(x,t)]/k = u_t + (k/2) u_tt + ...</a:t>
                </a:r>
              </mc:Fallback>
            </mc:AlternateContent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4160000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417000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เขียนเป็นสัญลักษณ์ตาราง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b>
                      <m:e>
                        <m:r>
                          <a:rPr lang="en-US" sz="15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sz="15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15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=u</m:t>
                    </m:r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a:rPr lang="en-US" sz="15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5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5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US" sz="15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15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d>
                  </m:oMath>
                </a14:m>
              </mc:Choice>
              <mc:Fallback>
                <a:r>
                  <a:rPr lang="en-US" sz="15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u_ij = u(x_i, t_j)</a:t>
                </a:r>
              </mc:Fallback>
            </mc:AlternateContent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4500000"/>
            <a:ext cx="10007600" cy="900000"/>
          </a:xfrm>
          <a:prstGeom prst="roundRect">
            <a:avLst>
              <a:gd name="adj" fmla="val 14644"/>
            </a:avLst>
          </a:prstGeom>
          <a:solidFill>
            <a:srgbClr val="18202B"/>
          </a:solidFill>
          <a:ln/>
        </p:spPr>
      </p:sp>
      <p:sp>
        <p:nvSpPr>
          <p:cNvPr id="13" name="Text 11"/>
          <p:cNvSpPr/>
          <p:nvPr/>
        </p:nvSpPr>
        <p:spPr>
          <a:xfrm>
            <a:off x="1574800" y="4620000"/>
            <a:ext cx="621801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7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F4F6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>
                            <m:e>
                              <m:r>
                                <a:rPr lang="en-US" sz="17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7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i,j+1</m:t>
                              </m:r>
                            </m:sub>
                          </m:sSub>
                          <m:r>
                            <a:rPr lang="en-US" sz="17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7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7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</m:num>
                        <m:den>
                          <m:r>
                            <a:rPr lang="en-US" sz="17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  <m:r>
                        <a:rPr lang="en-US" sz="1700" i="1" dirty="0">
                          <a:solidFill>
                            <a:srgbClr val="F4F6F8"/>
                          </a:solidFill>
                          <a:latin typeface="Cambria Math" panose="02040503050406030204" pitchFamily="18" charset="0"/>
                        </a:rPr>
                        <m:t>+O(k)</m:t>
                      </m:r>
                    </m:oMath>
                  </m:oMathPara>
                </a14:m>
              </mc:Choice>
              <mc:Fallback>
                <a:r>
                  <a:rPr lang="en-US" sz="1700" b="1" dirty="0">
                    <a:solidFill>
                      <a:srgbClr val="F4F6F8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u_t = (u_{i,j+1} − u_ij)/k + O(k)</a:t>
                </a:r>
              </mc:Fallback>
            </mc:AlternateContent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63480" y="4810000"/>
            <a:ext cx="116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8A5D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แม่นยำอันดับ 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พิสูจน์ด้วยอนุกรมเทย์เลอร์ · 2/3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9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ผลต่างกลางสำหรับ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b>
                      <m:e>
                        <m:r>
                          <a:rPr lang="en-US" sz="32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sz="32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xx</m:t>
                        </m:r>
                      </m:sub>
                    </m:sSub>
                  </m:oMath>
                </a14:m>
              </mc:Choice>
              <mc:Fallback>
                <a:r>
                  <a:rPr lang="en-US" sz="3200" b="1" i="0" dirty="0">
                    <a:solidFill>
                      <a:srgbClr val="18202B"/>
                    </a:solidFill>
                    <a:latin typeface="Noto Serif Thai" pitchFamily="18" charset="0"/>
                    <a:ea typeface="Noto Serif Thai" pitchFamily="18" charset="-122"/>
                    <a:cs typeface="Noto Serif Thai" pitchFamily="18" charset="-120"/>
                  </a:rPr>
                  <a:t>u_xx</a:t>
                </a:r>
              </mc:Fallback>
            </mc:AlternateContent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30000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840000"/>
            <a:ext cx="10307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กระจาย u รอบ x ทั้งไปทางขวาและทางซ้าย โดยให้ t คงที่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170000"/>
            <a:ext cx="10307828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u(x+h)=u+h</m:t>
                      </m:r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u′</m:t>
                      </m:r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num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u″+</m:t>
                      </m:r>
                      <m:f>
                        <m:num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u‴+</m:t>
                      </m:r>
                      <m:f>
                        <m:num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e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p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</mc:Choice>
              <mc:Fallback>
                <a:r>
                  <a:rPr lang="en-US" sz="16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u(x+h) = u + h u' + (h^2/2!) u'' + (h^3/3!) u''' + (h^4/4!) u^(4) + ...</a:t>
                </a:r>
              </mc:Fallback>
            </mc:AlternateContent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900000"/>
            <a:ext cx="10307828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u(x−h)=u−h</m:t>
                      </m:r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u′</m:t>
                      </m:r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num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u″−</m:t>
                      </m:r>
                      <m:f>
                        <m:num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u‴+</m:t>
                      </m:r>
                      <m:f>
                        <m:num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e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p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−⋯</m:t>
                      </m:r>
                    </m:oMath>
                  </m:oMathPara>
                </a14:m>
              </mc:Choice>
              <mc:Fallback>
                <a:r>
                  <a:rPr lang="en-US" sz="16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u(x−h) = u − h u' + (h^2/2!) u'' − (h^3/3!) u''' + (h^4/4!) u^(4) − ...</a:t>
                </a:r>
              </mc:Fallback>
            </mc:AlternateContent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680000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690000"/>
            <a:ext cx="10307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บวกสองสมการ พจน์กำลังคี่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u′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h u'</a:t>
                </a:r>
              </mc:Fallback>
            </mc:AlternateContent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และ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p>
                      <m:e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u‴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h^3 u'''</a:t>
                </a:r>
              </mc:Fallback>
            </mc:AlternateContent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) หักล้างกันหมด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010000"/>
            <a:ext cx="10307828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u(x+h)+u(x−h)=2u+</m:t>
                      </m:r>
                      <m:sSup>
                        <m:e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u″+</m:t>
                      </m:r>
                      <m:f>
                        <m:num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e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p>
                          <m:r>
                            <a:rPr lang="en-US" sz="16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  <m:r>
                        <a:rPr lang="en-US" sz="16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</mc:Choice>
              <mc:Fallback>
                <a:r>
                  <a:rPr lang="en-US" sz="16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u(x+h) + u(x−h) = 2u + h^2 u'' + (h^4/12) u^(4) + ...</a:t>
                </a:r>
              </mc:Fallback>
            </mc:AlternateContent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4790000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4800000"/>
            <a:ext cx="10307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ย้าย 2u ไปฝั่งซ้าย หารด้วย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p>
                      <m:e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h^2</a:t>
                </a:r>
              </mc:Fallback>
            </mc:AlternateContent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แล้วเขียนเป็นสัญลักษณ์ตาราง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5110000"/>
            <a:ext cx="10007600" cy="900000"/>
          </a:xfrm>
          <a:prstGeom prst="roundRect">
            <a:avLst>
              <a:gd name="adj" fmla="val 15766"/>
            </a:avLst>
          </a:prstGeom>
          <a:solidFill>
            <a:srgbClr val="18202B"/>
          </a:solidFill>
          <a:ln/>
        </p:spPr>
      </p:sp>
      <p:sp>
        <p:nvSpPr>
          <p:cNvPr id="14" name="Text 12"/>
          <p:cNvSpPr/>
          <p:nvPr/>
        </p:nvSpPr>
        <p:spPr>
          <a:xfrm>
            <a:off x="1574800" y="5230000"/>
            <a:ext cx="833942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6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xx</m:t>
                          </m:r>
                        </m:sub>
                      </m:sSub>
                      <m:r>
                        <a:rPr lang="en-US" sz="1600" i="1" dirty="0">
                          <a:solidFill>
                            <a:srgbClr val="F4F6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>
                            <m:e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i+1,j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e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rgbClr val="F4F6F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i−1,j</m:t>
                              </m:r>
                            </m:sub>
                          </m:sSub>
                        </m:num>
                        <m:den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1" dirty="0">
                          <a:solidFill>
                            <a:srgbClr val="F4F6F8"/>
                          </a:solidFill>
                          <a:latin typeface="Cambria Math" panose="02040503050406030204" pitchFamily="18" charset="0"/>
                        </a:rPr>
                        <m:t>+O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p>
                            <m:e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F4F6F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>
                <a:r>
                  <a:rPr lang="en-US" sz="1600" b="1" dirty="0">
                    <a:solidFill>
                      <a:srgbClr val="F4F6F8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u_xx = (u_{i+1,j} − 2u_ij + u_{i−1,j})/h^2 + O(h^2)</a:t>
                </a:r>
              </mc:Fallback>
            </mc:AlternateContent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63480" y="5420000"/>
            <a:ext cx="116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8A5D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แม่นยำอันดับ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′ ″ ‴ (4) คืออนุพันธ์อันดับ 1–4 ตาม x ที่จุด (x, t) · พจน์ที่เหลือที่ใหญ่สุดคือ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200" i="1" dirty="0">
                        <a:solidFill>
                          <a:srgbClr val="5A657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num>
                        <m:sSup>
                          <m:e>
                            <m:r>
                              <a:rPr lang="en-US" sz="1200" i="1" dirty="0">
                                <a:solidFill>
                                  <a:srgbClr val="5A6577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200" i="1" dirty="0">
                                <a:solidFill>
                                  <a:srgbClr val="5A657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200" i="1" dirty="0">
                            <a:solidFill>
                              <a:srgbClr val="5A657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b>
                      <m:e>
                        <m:r>
                          <a:rPr lang="en-US" sz="1200" i="1" dirty="0">
                            <a:solidFill>
                              <a:srgbClr val="5A6577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5A6577"/>
                            </a:solidFill>
                            <a:latin typeface="Cambria Math" panose="02040503050406030204" pitchFamily="18" charset="0"/>
                          </a:rPr>
                          <m:t>xxxx</m:t>
                        </m:r>
                      </m:sub>
                    </m:sSub>
                  </m:oMath>
                </a14:m>
              </mc:Choice>
              <mc:Fallback>
                <a:r>
                  <a:rPr lang="en-US" sz="1200" dirty="0">
                    <a:solidFill>
                      <a:srgbClr val="5A6577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−(h^2/12) u_xxxx</a:t>
                </a:r>
              </mc:Fallback>
            </mc:AlternateContent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พิสูจน์ด้วยอนุกรมเทย์เลอร์ · 3/3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9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จากสมการ (4) สู่สูตร (5)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05000"/>
            <a:ext cx="6462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คูณสมการ (4) ด้วย k และให้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num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sSup>
                          <m:e>
                            <m:r>
                              <a:rPr lang="en-US" sz="14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4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r = k/h^2</a:t>
                </a:r>
              </mc:Fallback>
            </mc:AlternateContent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280921"/>
            <a:ext cx="87511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i,j+1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e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=r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i+1,j</m:t>
                              </m:r>
                            </m:sub>
                          </m:s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e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i−1,j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5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u_{i,j+1} − u_ij = r(u_{i+1,j} − 2u_ij + u_{i−1,j})</a:t>
                </a:r>
              </mc:Fallback>
            </mc:AlternateContent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712721"/>
            <a:ext cx="6462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ย้าย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b>
                      <m:e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u_ij</a:t>
                </a:r>
              </mc:Fallback>
            </mc:AlternateContent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ไปฝั่งขวา แล้วรวมพจน์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b>
                      <m:e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u_ij</a:t>
                </a:r>
              </mc:Fallback>
            </mc:AlternateContent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088639"/>
            <a:ext cx="744963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i,j+1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−2r</m:t>
                      </m:r>
                      <m:sSub>
                        <m:e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+r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i+1,j</m:t>
                              </m:r>
                            </m:sub>
                          </m:s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i−1,j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5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u_{i,j+1} = u_ij − 2r u_ij + r(u_{i+1,j} + u_{i−1,j})</a:t>
                </a:r>
              </mc:Fallback>
            </mc:AlternateContent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28861" y="182643"/>
            <a:ext cx="3937000" cy="3149600"/>
          </a:xfrm>
          <a:prstGeom prst="roundRect">
            <a:avLst>
              <a:gd name="adj" fmla="val 3226"/>
            </a:avLst>
          </a:prstGeom>
          <a:solidFill>
            <a:srgbClr val="18202B"/>
          </a:solidFill>
          <a:ln/>
        </p:spPr>
      </p:sp>
      <p:sp>
        <p:nvSpPr>
          <p:cNvPr id="9" name="Text 7"/>
          <p:cNvSpPr/>
          <p:nvPr/>
        </p:nvSpPr>
        <p:spPr>
          <a:xfrm>
            <a:off x="8282861" y="436643"/>
            <a:ext cx="35318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ความคลาดเคลื่อนตัดปลาย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82861" y="822722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รวมผลจากสองสไลด์ก่อน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82861" y="1216422"/>
            <a:ext cx="353187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800" i="1" dirty="0">
                          <a:solidFill>
                            <a:srgbClr val="F08A5D"/>
                          </a:solidFill>
                          <a:latin typeface="Cambria Math" panose="02040503050406030204" pitchFamily="18" charset="0"/>
                        </a:rPr>
                        <m:t>τ=O(k)+O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p>
                            <m:e>
                              <m:r>
                                <a:rPr lang="en-US" sz="1800" i="1" dirty="0">
                                  <a:solidFill>
                                    <a:srgbClr val="F08A5D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800" i="1" dirty="0">
                                  <a:solidFill>
                                    <a:srgbClr val="F08A5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>
                <a:r>
                  <a:rPr lang="en-US" sz="1800" b="1" dirty="0">
                    <a:solidFill>
                      <a:srgbClr val="F08A5D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tau = O(k) + O(h^2)</a:t>
                </a:r>
              </mc:Fallback>
            </mc:AlternateContent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82861" y="1663461"/>
            <a:ext cx="353187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BFC8D4"/>
                        </a:solidFill>
                        <a:latin typeface="Cambria Math" panose="02040503050406030204" pitchFamily="18" charset="0"/>
                      </a:rPr>
                      <m:t>τ→0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BFC8D4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tau -&gt; 0</a:t>
                </a:r>
              </mc:Fallback>
            </mc:AlternateContent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เมื่อ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BFC8D4"/>
                        </a:solidFill>
                        <a:latin typeface="Cambria Math" panose="02040503050406030204" pitchFamily="18" charset="0"/>
                      </a:rPr>
                      <m:t>h,k→0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BFC8D4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h, k -&gt; 0</a:t>
                </a:r>
              </mc:Fallback>
            </mc:AlternateContent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จึงสอดคล้องกับสมการ (consistent)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2861" y="2323861"/>
            <a:ext cx="353187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แต่จะลู่เข้าได้ต้องเสถียรด้วย คือ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BFC8D4"/>
                        </a:solidFill>
                        <a:latin typeface="Cambria Math" panose="02040503050406030204" pitchFamily="18" charset="0"/>
                      </a:rPr>
                      <m:t>r≤</m:t>
                    </m:r>
                    <m:f>
                      <m:num>
                        <m:r>
                          <a:rPr lang="en-US" sz="1400" i="1" dirty="0">
                            <a:solidFill>
                              <a:srgbClr val="BFC8D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 dirty="0">
                            <a:solidFill>
                              <a:srgbClr val="BFC8D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400" dirty="0">
                    <a:solidFill>
                      <a:srgbClr val="BFC8D4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r &lt;= 1/2</a:t>
                </a:r>
              </mc:Fallback>
            </mc:AlternateContent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(ทฤษฎีบทของ Lax)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2373" y="3961926"/>
            <a:ext cx="8058150" cy="596900"/>
          </a:xfrm>
          <a:prstGeom prst="roundRect">
            <a:avLst>
              <a:gd name="adj" fmla="val 13298"/>
            </a:avLst>
          </a:prstGeom>
          <a:solidFill>
            <a:srgbClr val="FFFFFF"/>
          </a:solidFill>
          <a:ln w="19050">
            <a:solidFill>
              <a:srgbClr val="B4381F"/>
            </a:solidFill>
            <a:prstDash val="solid"/>
          </a:ln>
        </p:spPr>
        <p:txBody>
          <a:bodyPr wrap="square" lIns="172967" tIns="122167" rIns="0" bIns="98037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i,j+1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=(1−2r)</m:t>
                      </m:r>
                      <m:sSub>
                        <m:e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+r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i+1,j</m:t>
                              </m:r>
                            </m:sub>
                          </m:sSub>
                          <m:r>
                            <a:rPr lang="en-US" sz="15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5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i−1,j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1500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 xml:space="preserve">        (5)</m:t>
                      </m:r>
                    </m:oMath>
                  </m:oMathPara>
                </a14:m>
              </mc:Choice>
              <mc:Fallback>
                <a:r>
                  <a:rPr lang="en-US" sz="15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u_{i,j+1} = (1 − 2r) u_ij + r(u_{i+1,j} + u_{i−1,j})   (5)</a:t>
                </a:r>
              </mc:Fallback>
            </mc:AlternateContent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ขั้นที่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9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สูตร Explicit (5)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098039"/>
            <a:ext cx="62265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ให้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5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num>
                        <m:r>
                          <a:rPr lang="en-US" sz="15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sSup>
                          <m:e>
                            <m:r>
                              <a:rPr lang="en-US" sz="15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5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  <mc:Fallback>
                <a:r>
                  <a:rPr lang="en-US" sz="15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r = k/h^2</a:t>
                </a:r>
              </mc:Fallback>
            </mc:AlternateContent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แล้วแก้สมการ (4) หาค่าที่เวลาถัดไป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325" y="2577464"/>
            <a:ext cx="6026150" cy="1240790"/>
          </a:xfrm>
          <a:prstGeom prst="roundRect">
            <a:avLst>
              <a:gd name="adj" fmla="val 7421"/>
            </a:avLst>
          </a:prstGeom>
          <a:solidFill>
            <a:srgbClr val="FFFFFF"/>
          </a:solidFill>
          <a:ln w="19050">
            <a:solidFill>
              <a:srgbClr val="B4381F"/>
            </a:solidFill>
            <a:prstDash val="solid"/>
          </a:ln>
        </p:spPr>
        <p:txBody>
          <a:bodyPr wrap="square" lIns="232747" tIns="207347" rIns="67545" bIns="181947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9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i,j+1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=(1−2r)</m:t>
                      </m:r>
                      <m:sSub>
                        <m:e>
                          <m:r>
                            <a:rPr lang="en-US" sz="19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9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u_{i,j+1} = (1 − 2r) u_ij</a:t>
                </a:r>
              </mc:Fallback>
            </mc:AlternateContent>
            <a:endParaRPr lang="en-US" sz="1900" dirty="0"/>
          </a:p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900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 xml:space="preserve">            </m:t>
                      </m:r>
                      <m:r>
                        <a:rPr lang="en-US" sz="19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+r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9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9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i+1,j</m:t>
                              </m:r>
                            </m:sub>
                          </m:sSub>
                          <m:r>
                            <a:rPr lang="en-US" sz="19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9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9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i−1,j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9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+ r(u_{i+1,j} + u_{i−1,j})</a:t>
                </a:r>
              </mc:Fallback>
            </mc:AlternateContent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12800" y="4030979"/>
            <a:ext cx="622655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ค่าในแถวถัดไปคำนวณได้ตรงจาก 3 จุดในแถวปัจจุบัน ไม่ต้องแก้ระบบสมการ จึงเรียกว่า </a:t>
            </a:r>
            <a:r>
              <a:rPr lang="en-US" sz="1500" b="1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explicit</a:t>
            </a:r>
            <a:endParaRPr lang="en-US" sz="15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24800" y="2613661"/>
            <a:ext cx="1346200" cy="1358900"/>
          </a:xfrm>
          <a:prstGeom prst="rect">
            <a:avLst/>
          </a:prstGeom>
        </p:spPr>
      </p:pic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96400" y="2664461"/>
            <a:ext cx="101600" cy="1219200"/>
          </a:xfrm>
          <a:prstGeom prst="rect">
            <a:avLst/>
          </a:prstGeom>
        </p:spPr>
      </p:pic>
      <p:pic>
        <p:nvPicPr>
          <p:cNvPr id="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23400" y="2613661"/>
            <a:ext cx="1346200" cy="1358900"/>
          </a:xfrm>
          <a:prstGeom prst="rect">
            <a:avLst/>
          </a:prstGeom>
        </p:spPr>
      </p:pic>
      <p:pic>
        <p:nvPicPr>
          <p:cNvPr id="10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70800" y="3832861"/>
            <a:ext cx="304800" cy="304800"/>
          </a:xfrm>
          <a:prstGeom prst="rect">
            <a:avLst/>
          </a:prstGeom>
        </p:spPr>
      </p:pic>
      <p:pic>
        <p:nvPicPr>
          <p:cNvPr id="11" name="Image 4" descr="ellip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94800" y="3832861"/>
            <a:ext cx="304800" cy="304800"/>
          </a:xfrm>
          <a:prstGeom prst="rect">
            <a:avLst/>
          </a:prstGeom>
        </p:spPr>
      </p:pic>
      <p:pic>
        <p:nvPicPr>
          <p:cNvPr id="12" name="Image 5" descr="ellip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718800" y="3832861"/>
            <a:ext cx="304800" cy="304800"/>
          </a:xfrm>
          <a:prstGeom prst="rect">
            <a:avLst/>
          </a:prstGeom>
        </p:spPr>
      </p:pic>
      <p:pic>
        <p:nvPicPr>
          <p:cNvPr id="13" name="Image 6" descr="ellip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169400" y="2308861"/>
            <a:ext cx="355600" cy="3556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431530" y="1953261"/>
            <a:ext cx="1831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(i, j+1)</a:t>
            </a:r>
            <a:endParaRPr lang="en-US" sz="1400" dirty="0"/>
          </a:p>
        </p:txBody>
      </p:sp>
      <p:sp>
        <p:nvSpPr>
          <p:cNvPr id="15" name="Text 6"/>
          <p:cNvSpPr/>
          <p:nvPr/>
        </p:nvSpPr>
        <p:spPr>
          <a:xfrm>
            <a:off x="7289800" y="4239264"/>
            <a:ext cx="1066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(i−1, j)</a:t>
            </a:r>
            <a:endParaRPr lang="en-US" sz="1300" dirty="0"/>
          </a:p>
        </p:txBody>
      </p:sp>
      <p:sp>
        <p:nvSpPr>
          <p:cNvPr id="16" name="Text 7"/>
          <p:cNvSpPr/>
          <p:nvPr/>
        </p:nvSpPr>
        <p:spPr>
          <a:xfrm>
            <a:off x="8813800" y="4239264"/>
            <a:ext cx="1066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(i, j)</a:t>
            </a:r>
            <a:endParaRPr lang="en-US" sz="1300" dirty="0"/>
          </a:p>
        </p:txBody>
      </p:sp>
      <p:sp>
        <p:nvSpPr>
          <p:cNvPr id="17" name="Text 8"/>
          <p:cNvSpPr/>
          <p:nvPr/>
        </p:nvSpPr>
        <p:spPr>
          <a:xfrm>
            <a:off x="10337800" y="4239264"/>
            <a:ext cx="1066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(i+1, j)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31746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ขั้นที่ 4 · เงื่อนไข (6)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2"/>
            <a:ext cx="5030057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ต้องเลือก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3200" i="1" dirty="0">
                        <a:solidFill>
                          <a:srgbClr val="18202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lin"/>
                      </m:fPr>
                      <m:num>
                        <m:r>
                          <a:rPr lang="en-US" sz="32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sSup>
                          <m:e>
                            <m:r>
                              <a:rPr lang="en-US" sz="3200" i="1" dirty="0">
                                <a:solidFill>
                                  <a:srgbClr val="18202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3200" i="1" dirty="0">
                                <a:solidFill>
                                  <a:srgbClr val="18202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200" i="1" dirty="0">
                        <a:solidFill>
                          <a:srgbClr val="18202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</m:fPr>
                      <m:num>
                        <m:r>
                          <a:rPr lang="en-US" sz="32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3200" b="1" i="0" dirty="0">
                    <a:solidFill>
                      <a:srgbClr val="18202B"/>
                    </a:solidFill>
                    <a:latin typeface="Noto Serif Thai" pitchFamily="18" charset="0"/>
                    <a:ea typeface="Noto Serif Thai" pitchFamily="18" charset="-122"/>
                    <a:cs typeface="Noto Serif Thai" pitchFamily="18" charset="-120"/>
                  </a:rPr>
                  <a:t>r = k/h^2 &lt;= 1/2</a:t>
                </a:r>
              </mc:Fallback>
            </mc:AlternateContent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0" y="1150621"/>
            <a:ext cx="41859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Example 1 ในหนังสือ: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unc>
                      <m:fName>
                        <m:r>
                          <m:rPr>
                            <m:sty m:val="p"/>
                          </m:rPr>
                          <a:rPr lang="en-US" sz="1400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πx</m:t>
                        </m:r>
                      </m:e>
                    </m:func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, h=0.2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f(x) = sin(pi x), h = 0.2</a:t>
                </a:r>
              </mc:Fallback>
            </mc:AlternateContent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เทียบกับคำตอบแม่นตรง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902464"/>
            <a:ext cx="10566400" cy="1651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902464"/>
            <a:ext cx="10566400" cy="1651000"/>
          </a:xfrm>
          <a:custGeom>
            <a:avLst/>
            <a:gdLst/>
            <a:ahLst/>
            <a:cxnLst/>
            <a:rect l="l" t="t" r="r" b="b"/>
            <a:pathLst>
              <a:path w="10566400" h="1651000">
                <a:moveTo>
                  <a:pt x="76200" y="1651000"/>
                </a:moveTo>
                <a:lnTo>
                  <a:pt x="76200" y="16510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6040" wR="76200" stAng="0" swAng="-5400000"/>
                <a:lnTo>
                  <a:pt x="76200" y="10160"/>
                </a:lnTo>
                <a:arcTo hR="66040" wR="66040" stAng="16200000" swAng="-5400000"/>
                <a:lnTo>
                  <a:pt x="10160" y="1574800"/>
                </a:lnTo>
                <a:arcTo hR="76200" wR="660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12624"/>
            <a:ext cx="10556240" cy="410210"/>
          </a:xfrm>
          <a:custGeom>
            <a:avLst/>
            <a:gdLst/>
            <a:ahLst/>
            <a:cxnLst/>
            <a:rect l="l" t="t" r="r" b="b"/>
            <a:pathLst>
              <a:path w="10556240" h="410210">
                <a:moveTo>
                  <a:pt x="0" y="66040"/>
                </a:moveTo>
                <a:arcTo hR="66040" wR="66040" stAng="10800000" swAng="5400000"/>
                <a:lnTo>
                  <a:pt x="10480040" y="0"/>
                </a:lnTo>
                <a:arcTo hR="76200" wR="76200" stAng="16200000" swAng="5400000"/>
                <a:lnTo>
                  <a:pt x="10556240" y="410210"/>
                </a:lnTo>
                <a:lnTo>
                  <a:pt x="0" y="410210"/>
                </a:lnTo>
                <a:close/>
              </a:path>
            </a:pathLst>
          </a:custGeom>
          <a:solidFill>
            <a:srgbClr val="ECECE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12624"/>
          <a:ext cx="10556240" cy="1640840"/>
        </p:xfrm>
        <a:graphic>
          <a:graphicData uri="http://schemas.openxmlformats.org/drawingml/2006/table">
            <a:tbl>
              <a:tblPr/>
              <a:tblGrid>
                <a:gridCol w="1055624"/>
                <a:gridCol w="1583436"/>
                <a:gridCol w="1583436"/>
                <a:gridCol w="1583436"/>
                <a:gridCol w="1583436"/>
                <a:gridCol w="1583436"/>
                <a:gridCol w="1583436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 = 0.25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 = 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แม่นตรง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 = 0.25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 = 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แม่นตรง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0.04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7D4F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0.393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0.363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0.396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7D4F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0.637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0.588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0.641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0.12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7D4F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0.176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0.139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0.180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7D4F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0.285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0.225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0.291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0.20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7D4F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0.079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0.053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0.082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7D4F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0.128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0.086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0.132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3807464"/>
            <a:ext cx="531088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F7D4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r = 0.25 (ผ่านเงื่อนไข)</a:t>
            </a:r>
            <a:r>
              <a:rPr lang="en-US" sz="15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ใกล้ค่าแม่นตรง คลาดไม่เกินประมาณ 3%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23000" y="3807464"/>
            <a:ext cx="531088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4231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r = 1 (ผิดเงื่อนไข)</a:t>
            </a:r>
            <a:r>
              <a:rPr lang="en-US" sz="15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ต่ำกว่าค่าจริง 8% ที่ก้าวแรก และถึง 35% ที่ t = 0.2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สามคอลัมน์ซ้ายคือที่ x = 0.2 · สามคอลัมน์ขวาคือที่ x = 0.4 · คำตอบแม่นตรง (10)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200" i="1" dirty="0">
                        <a:solidFill>
                          <a:srgbClr val="5A6577"/>
                        </a:solidFill>
                        <a:latin typeface="Cambria Math" panose="02040503050406030204" pitchFamily="18" charset="0"/>
                      </a:rPr>
                      <m:t>u=</m:t>
                    </m:r>
                    <m:func>
                      <m:fName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5A657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200" i="1" dirty="0">
                            <a:solidFill>
                              <a:srgbClr val="5A6577"/>
                            </a:solidFill>
                            <a:latin typeface="Cambria Math" panose="02040503050406030204" pitchFamily="18" charset="0"/>
                          </a:rPr>
                          <m:t>πx</m:t>
                        </m:r>
                      </m:e>
                    </m:func>
                    <m:sSup>
                      <m:e>
                        <m:r>
                          <a:rPr lang="en-US" sz="1200" i="1" dirty="0">
                            <a:solidFill>
                              <a:srgbClr val="5A657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1200" i="1" dirty="0">
                            <a:solidFill>
                              <a:srgbClr val="5A6577"/>
                            </a:solidFill>
                            <a:latin typeface="Cambria Math" panose="02040503050406030204" pitchFamily="18" charset="0"/>
                          </a:rPr>
                          <m:t>−π²t</m:t>
                        </m:r>
                      </m:sup>
                    </m:sSup>
                  </m:oMath>
                </a14:m>
              </mc:Choice>
              <mc:Fallback>
                <a:r>
                  <a:rPr lang="en-US" sz="1200" dirty="0">
                    <a:solidFill>
                      <a:srgbClr val="5A6577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u = sin(pi x) e^(-pi^2 t)</a:t>
                </a:r>
              </mc:Fallback>
            </mc:AlternateContent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F08A5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ทำไม R &gt; ½ ถึงพัง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2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ความคลาดเคลื่อนถูกขยาย ทุกก้าวเวลา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53264"/>
            <a:ext cx="62788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1. สูตร (5) คือค่าเฉลี่ยถ่วงน้ำหนัก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263142"/>
            <a:ext cx="62788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น้ำหนัก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BFC8D4"/>
                        </a:solidFill>
                        <a:latin typeface="Cambria Math" panose="02040503050406030204" pitchFamily="18" charset="0"/>
                      </a:rPr>
                      <m:t>(1−2r)+r+r=1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BFC8D4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(1 − 2r) + r + r = 1</a:t>
                </a:r>
              </mc:Fallback>
            </mc:AlternateContent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ถ้า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BFC8D4"/>
                        </a:solidFill>
                        <a:latin typeface="Cambria Math" panose="02040503050406030204" pitchFamily="18" charset="0"/>
                      </a:rPr>
                      <m:t>r&gt;</m:t>
                    </m:r>
                    <m:f>
                      <m:num>
                        <m:r>
                          <a:rPr lang="en-US" sz="1400" i="1" dirty="0">
                            <a:solidFill>
                              <a:srgbClr val="BFC8D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 dirty="0">
                            <a:solidFill>
                              <a:srgbClr val="BFC8D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400" dirty="0">
                    <a:solidFill>
                      <a:srgbClr val="BFC8D4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r &gt; 1/2</a:t>
                </a:r>
              </mc:Fallback>
            </mc:AlternateContent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น้ำหนักของจุดเดิมติดลบ ค่าใหม่จึงพุ่งเกินจุดข้างเคียงได้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974342"/>
            <a:ext cx="62788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2. ความคลาดเคลื่อนแบบฟันเลื่อย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3284221"/>
            <a:ext cx="62788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ถ้า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BFC8D4"/>
                        </a:solidFill>
                        <a:latin typeface="Cambria Math" panose="02040503050406030204" pitchFamily="18" charset="0"/>
                      </a:rPr>
                      <m:t>e=+ε,−ε,+ε,…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BFC8D4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e = +eps, -eps, +eps, ...</a:t>
                </a:r>
              </mc:Fallback>
            </mc:AlternateContent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แทนในสูตรได้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b>
                      <m:e>
                        <m:r>
                          <a:rPr lang="en-US" sz="1400" i="1" dirty="0">
                            <a:solidFill>
                              <a:srgbClr val="BFC8D4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BFC8D4"/>
                            </a:solidFill>
                            <a:latin typeface="Cambria Math" panose="02040503050406030204" pitchFamily="18" charset="0"/>
                          </a:rPr>
                          <m:t xml:space="preserve">ใหม่</m:t>
                        </m:r>
                      </m:sub>
                    </m:sSub>
                    <m:r>
                      <a:rPr lang="en-US" sz="1400" i="1" dirty="0">
                        <a:solidFill>
                          <a:srgbClr val="BFC8D4"/>
                        </a:solidFill>
                        <a:latin typeface="Cambria Math" panose="02040503050406030204" pitchFamily="18" charset="0"/>
                      </a:rPr>
                      <m:t>=(1−4r)ε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BFC8D4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e_new = (1 − 4r) eps</a:t>
                </a:r>
              </mc:Fallback>
            </mc:AlternateContent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601721"/>
            <a:ext cx="6278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2000" i="1" dirty="0">
                          <a:solidFill>
                            <a:srgbClr val="F08A5D"/>
                          </a:solidFill>
                          <a:latin typeface="Cambria Math" panose="02040503050406030204" pitchFamily="18" charset="0"/>
                        </a:rPr>
                        <m:t>G=1−4r,</m:t>
                      </m:r>
                      <m:r>
                        <m:rPr>
                          <m:nor/>
                        </m:rPr>
                        <a:rPr lang="en-US" sz="2000" dirty="0">
                          <a:solidFill>
                            <a:srgbClr val="F08A5D"/>
                          </a:solidFill>
                          <a:latin typeface="Cambria Math" panose="02040503050406030204" pitchFamily="18" charset="0"/>
                        </a:rPr>
                        <m:t xml:space="preserve">    </m:t>
                      </m:r>
                      <m:d>
                        <m:dPr>
                          <m:begChr m:val="|"/>
                          <m:endChr m:val="|"/>
                        </m:dPr>
                        <m:e>
                          <m:r>
                            <a:rPr lang="en-US" sz="2000" i="1" dirty="0">
                              <a:solidFill>
                                <a:srgbClr val="F08A5D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F08A5D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</mc:Choice>
              <mc:Fallback>
                <a:r>
                  <a:rPr lang="en-US" sz="2000" b="1" dirty="0">
                    <a:solidFill>
                      <a:srgbClr val="F08A5D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G = 1 − 4r, |G| &lt;= 1</a:t>
                </a:r>
              </mc:Fallback>
            </mc:AlternateContent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800" y="4135121"/>
            <a:ext cx="62788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r = 1 → ความคลาดเคลื่อน 0.001 กลายเป็น </a:t>
            </a:r>
            <a:r>
              <a:rPr lang="en-US" sz="1400" b="1" dirty="0">
                <a:solidFill>
                  <a:srgbClr val="F08A5D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59</a:t>
            </a: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ใน 10 ก้าว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25360" y="1963424"/>
          <a:ext cx="4053840" cy="2727960"/>
        </p:xfrm>
        <a:graphic>
          <a:graphicData uri="http://schemas.openxmlformats.org/drawingml/2006/table">
            <a:tbl>
              <a:tblPr/>
              <a:tblGrid>
                <a:gridCol w="972922"/>
                <a:gridCol w="1216152"/>
                <a:gridCol w="1864766"/>
              </a:tblGrid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G = 1 − 4r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ผล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B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0.25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5CC28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หายไปทันที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−1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5CC28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ไม่โต (ก้ำกึ่ง)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0.6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−1.4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F8A7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โต 1.4 เท่า/ก้าว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−3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F8A7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โต 3 เท่า/ก้าว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CF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−9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F8A7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โต 9 เท่า/ก้าว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ตัวอย่าง · แบบฝึกหัด 21.6 ข้อ 5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2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แท่งยาว 10 ft หาอุณหภูมิที่ t =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6439"/>
            <a:ext cx="3930650" cy="242951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212342"/>
            <a:ext cx="352140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โจทย์กำหนด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573021"/>
            <a:ext cx="3521405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L=10</m:t>
                      </m:r>
                      <m:r>
                        <m:rPr>
                          <m:nor/>
                        </m:rPr>
                        <a:rPr lang="en-US" sz="1500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 xml:space="preserve"> ft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L = 10 ft</a:t>
                </a:r>
              </mc:Fallback>
            </mc:AlternateContent>
            <a:endParaRPr lang="en-US" sz="1500" dirty="0"/>
          </a:p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f(x)=x(1−0.1x)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f(x) = x(1 − 0.1x)</a:t>
                </a:r>
              </mc:Fallback>
            </mc:AlternateContent>
            <a:endParaRPr lang="en-US" sz="1500" dirty="0"/>
          </a:p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u(0,t)=u(10,t)=0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u(0,t) = u(10,t) = 0</a:t>
                </a:r>
              </mc:Fallback>
            </mc:AlternateContent>
            <a:endParaRPr lang="en-US" sz="1500" dirty="0"/>
          </a:p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h=1,</m:t>
                      </m:r>
                      <m:r>
                        <m:rPr>
                          <m:nor/>
                        </m:rPr>
                        <a:rPr lang="en-US" sz="1500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 xml:space="preserve">  </m:t>
                      </m:r>
                      <m:r>
                        <a:rPr lang="en-US" sz="15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k=0.5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h = 1, k = 0.5</a:t>
                </a:r>
              </mc:Fallback>
            </mc:AlternateContent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54600" y="1953264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0" y="1953264"/>
            <a:ext cx="583412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500" i="1" dirty="0">
                        <a:solidFill>
                          <a:srgbClr val="18202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num>
                        <m:r>
                          <a:rPr lang="en-US" sz="15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sSup>
                          <m:e>
                            <m:r>
                              <a:rPr lang="en-US" sz="1500" i="1" dirty="0">
                                <a:solidFill>
                                  <a:srgbClr val="18202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500" i="1" dirty="0">
                                <a:solidFill>
                                  <a:srgbClr val="18202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500" i="1" dirty="0">
                        <a:solidFill>
                          <a:srgbClr val="18202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num>
                        <m:r>
                          <a:rPr lang="en-US" sz="15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p>
                          <m:e>
                            <m:r>
                              <a:rPr lang="en-US" sz="1500" i="1" dirty="0">
                                <a:solidFill>
                                  <a:srgbClr val="18202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1500" i="1" dirty="0">
                                <a:solidFill>
                                  <a:srgbClr val="18202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500" i="1" dirty="0">
                        <a:solidFill>
                          <a:srgbClr val="18202B"/>
                        </a:solidFill>
                        <a:latin typeface="Cambria Math" panose="02040503050406030204" pitchFamily="18" charset="0"/>
                      </a:rPr>
                      <m:t>=0.5≤</m:t>
                    </m:r>
                    <m:f>
                      <m:num>
                        <m:r>
                          <a:rPr lang="en-US" sz="15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500" dirty="0">
                    <a:solidFill>
                      <a:srgbClr val="18202B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r = k/h^2 = 0.5/1^2 = 0.5 &lt;= 1/2</a:t>
                </a:r>
              </mc:Fallback>
            </mc:AlternateContent>
            <a:r>
              <a:rPr lang="en-US" sz="15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ผ่านเงื่อนไข · ต้องเดิน 2/0.5 = 4 ก้าว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54600" y="2391414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0" y="2391414"/>
            <a:ext cx="583412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แทน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500" i="1" dirty="0">
                        <a:solidFill>
                          <a:srgbClr val="18202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num>
                        <m:r>
                          <a:rPr lang="en-US" sz="15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i="1" dirty="0">
                            <a:solidFill>
                              <a:srgbClr val="18202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500" dirty="0">
                    <a:solidFill>
                      <a:srgbClr val="18202B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r = 1/2</a:t>
                </a:r>
              </mc:Fallback>
            </mc:AlternateContent>
            <a:r>
              <a:rPr lang="en-US" sz="15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ลงในสูตร (5) พจน์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500" i="1" dirty="0">
                        <a:solidFill>
                          <a:srgbClr val="18202B"/>
                        </a:solidFill>
                        <a:latin typeface="Cambria Math" panose="02040503050406030204" pitchFamily="18" charset="0"/>
                      </a:rPr>
                      <m:t>(1−2r)</m:t>
                    </m:r>
                  </m:oMath>
                </a14:m>
              </mc:Choice>
              <mc:Fallback>
                <a:r>
                  <a:rPr lang="en-US" sz="1500" dirty="0">
                    <a:solidFill>
                      <a:srgbClr val="18202B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(1 − 2r)</a:t>
                </a:r>
              </mc:Fallback>
            </mc:AlternateContent>
            <a:r>
              <a:rPr lang="en-US" sz="15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เป็นศูนย์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24525" y="2762889"/>
            <a:ext cx="5645150" cy="800000"/>
          </a:xfrm>
          <a:prstGeom prst="roundRect">
            <a:avLst>
              <a:gd name="adj" fmla="val 11745"/>
            </a:avLst>
          </a:prstGeom>
          <a:solidFill>
            <a:srgbClr val="FFFFFF"/>
          </a:solidFill>
          <a:ln w="19050">
            <a:solidFill>
              <a:srgbClr val="B4381F"/>
            </a:solidFill>
            <a:prstDash val="solid"/>
          </a:ln>
        </p:spPr>
        <p:txBody>
          <a:bodyPr wrap="square" lIns="163987" tIns="113187" rIns="5643" bIns="87787" rtlCol="0" anchor="t">
            <a:normAutofit/>
          </a:bodyPr>
          <a:lstStyle/>
          <a:p>
            <a:pPr algn="l" indent="0" marL="0">
              <a:buNone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i,j+1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18202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7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7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i−1,j</m:t>
                              </m:r>
                            </m:sub>
                          </m:sSub>
                          <m:r>
                            <a:rPr lang="en-US" sz="1700" i="1" dirty="0">
                              <a:solidFill>
                                <a:srgbClr val="18202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7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700" i="1" dirty="0">
                                  <a:solidFill>
                                    <a:srgbClr val="18202B"/>
                                  </a:solidFill>
                                  <a:latin typeface="Cambria Math" panose="02040503050406030204" pitchFamily="18" charset="0"/>
                                </a:rPr>
                                <m:t>i+1,j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700" b="1" dirty="0">
                    <a:solidFill>
                      <a:srgbClr val="18202B"/>
                    </a:solidFill>
                    <a:latin typeface="JetBrains Mono" pitchFamily="49" charset="0"/>
                    <a:ea typeface="JetBrains Mono" pitchFamily="49" charset="-122"/>
                    <a:cs typeface="JetBrains Mono" pitchFamily="49" charset="-120"/>
                  </a:rPr>
                  <a:t>u_{i,j+1} = 1/2 (u_{i−1,j} + u_{i+1,j})</a:t>
                </a:r>
              </mc:Fallback>
            </mc:AlternateContent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715000" y="3630000"/>
            <a:ext cx="5834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ค่าใหม่ = ค่าเฉลี่ยของจุดซ้ายกับจุดขวา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54600" y="403000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15000" y="4030000"/>
            <a:ext cx="583412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ค่าเริ่มต้น f(1..5) = 0.9, 1.6, 2.1, 2.4, 2.5 · สมมาตรรอบ x = 5 จึงคำนวณแค่ครึ่งแท่ง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39566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ข้อ 5 · ผลลัพธ์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2"/>
            <a:ext cx="3956113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คำนวณ 4 ก้าวเวลา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07200" y="139954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ตัวอย่างก้าวแรก: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sSub>
                      <m:e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num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(0.9+2.1)=1.5</m:t>
                    </m:r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u_{2,1} = 1/2 (0.9 + 2.1) = 1.5</a:t>
                </a:r>
              </mc:Fallback>
            </mc:AlternateContent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902464"/>
            <a:ext cx="10566400" cy="2881630"/>
          </a:xfrm>
          <a:prstGeom prst="roundRect">
            <a:avLst>
              <a:gd name="adj" fmla="val 264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902464"/>
            <a:ext cx="10566400" cy="2881630"/>
          </a:xfrm>
          <a:custGeom>
            <a:avLst/>
            <a:gdLst/>
            <a:ahLst/>
            <a:cxnLst/>
            <a:rect l="l" t="t" r="r" b="b"/>
            <a:pathLst>
              <a:path w="10566400" h="2881630">
                <a:moveTo>
                  <a:pt x="76200" y="2881630"/>
                </a:moveTo>
                <a:lnTo>
                  <a:pt x="76200" y="2881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6040" wR="76200" stAng="0" swAng="-5400000"/>
                <a:lnTo>
                  <a:pt x="76200" y="10160"/>
                </a:lnTo>
                <a:arcTo hR="66040" wR="66040" stAng="16200000" swAng="-5400000"/>
                <a:lnTo>
                  <a:pt x="10160" y="2805430"/>
                </a:lnTo>
                <a:arcTo hR="76200" wR="660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12624"/>
            <a:ext cx="10556240" cy="410210"/>
          </a:xfrm>
          <a:custGeom>
            <a:avLst/>
            <a:gdLst/>
            <a:ahLst/>
            <a:cxnLst/>
            <a:rect l="l" t="t" r="r" b="b"/>
            <a:pathLst>
              <a:path w="10556240" h="410210">
                <a:moveTo>
                  <a:pt x="0" y="66040"/>
                </a:moveTo>
                <a:arcTo hR="66040" wR="66040" stAng="10800000" swAng="5400000"/>
                <a:lnTo>
                  <a:pt x="10480040" y="0"/>
                </a:lnTo>
                <a:arcTo hR="76200" wR="76200" stAng="16200000" swAng="5400000"/>
                <a:lnTo>
                  <a:pt x="10556240" y="410210"/>
                </a:lnTo>
                <a:lnTo>
                  <a:pt x="0" y="410210"/>
                </a:lnTo>
                <a:close/>
              </a:path>
            </a:pathLst>
          </a:custGeom>
          <a:solidFill>
            <a:srgbClr val="ECECE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12624"/>
          <a:ext cx="10556240" cy="2871470"/>
        </p:xfrm>
        <a:graphic>
          <a:graphicData uri="http://schemas.openxmlformats.org/drawingml/2006/table">
            <a:tbl>
              <a:tblPr/>
              <a:tblGrid>
                <a:gridCol w="2111248"/>
                <a:gridCol w="1688998"/>
                <a:gridCol w="1688998"/>
                <a:gridCol w="1688998"/>
                <a:gridCol w="1688998"/>
                <a:gridCol w="1688998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x = 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x = 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x = 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x = 4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x = 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0.9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1.6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2.4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0.8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2.4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0.75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1.4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1.9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0.7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1.325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1.8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0.6625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1.25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1.7125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9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แม่นตรง t = 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0.6677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1.2603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1.7183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2.0048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B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2.1019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5038092"/>
            <a:ext cx="11379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คำตอบ:</a:t>
            </a:r>
            <a:r>
              <a:rPr lang="en-US" sz="16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ที่ t = 2 อุณหภูมิกลางแท่งประมาณ </a:t>
            </a:r>
            <a:r>
              <a:rPr lang="en-US" sz="1600" b="1" dirty="0">
                <a:solidFill>
                  <a:srgbClr val="B4381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2.1</a:t>
            </a:r>
            <a:r>
              <a:rPr lang="en-US" sz="1600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· คลาดจากค่าแม่นตรงไม่เกินประมาณ 1% · ค่าที่ x = 6 ถึง 9 เท่ากับ x = 4 ถึง 1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F08A5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สาธิตสด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2"/>
            <a:ext cx="10883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i="0" dirty="0">
                <a:solidFill>
                  <a:srgbClr val="F4F6F8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คำนวณทีละช่อง บนหน้าเว็บ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833371"/>
            <a:ext cx="3352800" cy="1844040"/>
          </a:xfrm>
          <a:prstGeom prst="roundRect">
            <a:avLst>
              <a:gd name="adj" fmla="val 5510"/>
            </a:avLst>
          </a:prstGeom>
          <a:solidFill>
            <a:srgbClr val="232C38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087371"/>
            <a:ext cx="293014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5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6800" y="3554729"/>
            <a:ext cx="293014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กดถัดไปทีละช่อง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6800" y="3890014"/>
            <a:ext cx="29301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ดูว่าค่าแต่ละช่องมาจากช่อง i−1, i, i+1 ของแถวก่อนหน้า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9600" y="2833371"/>
            <a:ext cx="3352800" cy="1844040"/>
          </a:xfrm>
          <a:prstGeom prst="roundRect">
            <a:avLst>
              <a:gd name="adj" fmla="val 5510"/>
            </a:avLst>
          </a:prstGeom>
          <a:solidFill>
            <a:srgbClr val="232C38"/>
          </a:solidFill>
          <a:ln/>
        </p:spPr>
      </p:sp>
      <p:sp>
        <p:nvSpPr>
          <p:cNvPr id="9" name="Text 7"/>
          <p:cNvSpPr/>
          <p:nvPr/>
        </p:nvSpPr>
        <p:spPr>
          <a:xfrm>
            <a:off x="4673600" y="3087371"/>
            <a:ext cx="293014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5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73600" y="3554729"/>
            <a:ext cx="293014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เทียบค่าแม่นตรง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73600" y="3890014"/>
            <a:ext cx="29301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แถวล่างของตารางแสดงค่าแม่นตรงและ % ความคลาดเคลื่อน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6400" y="2833371"/>
            <a:ext cx="3352800" cy="1844040"/>
          </a:xfrm>
          <a:prstGeom prst="roundRect">
            <a:avLst>
              <a:gd name="adj" fmla="val 5510"/>
            </a:avLst>
          </a:prstGeom>
          <a:solidFill>
            <a:srgbClr val="232C38"/>
          </a:solidFill>
          <a:ln/>
        </p:spPr>
      </p:sp>
      <p:sp>
        <p:nvSpPr>
          <p:cNvPr id="13" name="Text 11"/>
          <p:cNvSpPr/>
          <p:nvPr/>
        </p:nvSpPr>
        <p:spPr>
          <a:xfrm>
            <a:off x="8280400" y="3087371"/>
            <a:ext cx="293014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5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80400" y="3554729"/>
            <a:ext cx="293014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ลองให้ r &gt; 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80400" y="3890014"/>
            <a:ext cx="29301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C8D4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เลือก Example 1 ด้วย r = 1 ป้ายเปลี่ยนเป็นไม่เสถียร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57962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u="sng" dirty="0">
                <a:solidFill>
                  <a:srgbClr val="F08A5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claude.ai/artifact/JGpjbwFBUtuK8LVV3FLPGa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โค้ด PYTHON · PARABOLIC_FD.PY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2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ฟังก์ชัน explicit()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02464"/>
            <a:ext cx="6959600" cy="3251200"/>
          </a:xfrm>
          <a:prstGeom prst="roundRect">
            <a:avLst>
              <a:gd name="adj" fmla="val 3125"/>
            </a:avLst>
          </a:prstGeom>
          <a:solidFill>
            <a:srgbClr val="18202B"/>
          </a:solidFill>
          <a:ln/>
        </p:spPr>
        <p:txBody>
          <a:bodyPr wrap="none" lIns="249642" tIns="224242" rIns="57618" bIns="19884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79A6E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explicit(f, L, h, k, t_end):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n, steps = round(L/h), round(t_end/k)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x = np.linspace(0, L, n + 1)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 = k / h**2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U = np.zeros((steps + 1, n + 1))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U[0, :] = f(x)  </a:t>
            </a:r>
            <a:r>
              <a:rPr lang="en-US" sz="1350" dirty="0">
                <a:solidFill>
                  <a:srgbClr val="8C97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ค่าเริ่มต้น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50" dirty="0">
                <a:solidFill>
                  <a:srgbClr val="79A6E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 </a:t>
            </a:r>
            <a:r>
              <a:rPr lang="en-US" sz="1350" dirty="0">
                <a:solidFill>
                  <a:srgbClr val="79A6E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range(steps):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U[j+1, 1:-1] = (1 - 2*r)*U[j, 1:-1] \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+ r*(U[j, 2:] + U[j, :-2])</a:t>
            </a:r>
            <a:endParaRPr lang="en-US" sz="135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50" dirty="0">
                <a:solidFill>
                  <a:srgbClr val="79A6E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350" dirty="0">
                <a:solidFill>
                  <a:srgbClr val="E8EC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x, U, 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077200" y="1902464"/>
            <a:ext cx="34010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U[j, i]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197100"/>
            <a:ext cx="34010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แถว = เวลา คอลัมน์ = ตำแหน่ง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77200" y="2641600"/>
            <a:ext cx="34010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U[j, 2:] และ U[j, :-2]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77200" y="2936242"/>
            <a:ext cx="34010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จุดขวาและจุดซ้ายของทุกจุดภายใน คำนวณทั้งแถวพร้อมกัน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77200" y="3647442"/>
            <a:ext cx="34010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ค่าขอบ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77200" y="3942079"/>
            <a:ext cx="34010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U[:, 0] และ U[:, -1] คงเป็น 0 จาก np.zeros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B438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สรุป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42"/>
            <a:ext cx="108833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i="0" dirty="0">
                <a:solidFill>
                  <a:srgbClr val="18202B"/>
                </a:solidFill>
                <a:latin typeface="Noto Serif Thai" pitchFamily="18" charset="0"/>
                <a:ea typeface="Noto Serif Thai" pitchFamily="18" charset="-122"/>
                <a:cs typeface="Noto Serif Thai" pitchFamily="18" charset="-120"/>
              </a:rPr>
              <a:t>วิธี Explicit: ง่าย แต่ต้องคุม 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007239"/>
            <a:ext cx="3346450" cy="142113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263142"/>
            <a:ext cx="291967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7D4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ข้อดี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2639064"/>
            <a:ext cx="291967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คำนวณแถวถัดไปได้ตรงจาก 3 จุด เขียนโปรแกรมง่าย แต่ละก้าวเร็ว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22775" y="2007239"/>
            <a:ext cx="3346450" cy="142113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8680" y="2263142"/>
            <a:ext cx="291967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231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ข้อจำกัด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78680" y="2639064"/>
            <a:ext cx="291967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ต้องใช้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num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sSup>
                          <m:e>
                            <m:r>
                              <a:rPr lang="en-US" sz="14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400" i="1" dirty="0">
                                <a:solidFill>
                                  <a:srgbClr val="4A556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400" i="1" dirty="0">
                        <a:solidFill>
                          <a:srgbClr val="4A556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num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 dirty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400" dirty="0">
                    <a:solidFill>
                      <a:srgbClr val="4A5568"/>
                    </a:solidFill>
                    <a:latin typeface="IBM Plex Sans Thai" pitchFamily="34" charset="0"/>
                    <a:ea typeface="IBM Plex Sans Thai" pitchFamily="34" charset="-122"/>
                    <a:cs typeface="IBM Plex Sans Thai" pitchFamily="34" charset="-120"/>
                  </a:rPr>
                  <a:t>r = k/h^2 &lt;= 1/2</a:t>
                </a:r>
              </mc:Fallback>
            </mc:AlternateContent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ถ้าลด h ครึ่งหนึ่ง k ต้องลด 4 เท่า งานเพิ่มราว 8 เท่า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29575" y="2007239"/>
            <a:ext cx="3346450" cy="142113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5480" y="2263142"/>
            <a:ext cx="291967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5C9E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ผลลัพธ์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85480" y="2639064"/>
            <a:ext cx="291967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ข้อ 5 และ Example 1 ใกล้ค่าแม่นตรงในระดับ 1–3% เมื่อ r ≤ 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787142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ทางเลือกที่ไม่ติดเงื่อนไข r คือวิธี Crank–Nicolson (สมการ 8 ในหัวข้อ 21.6) ซึ่งต้องแก้ระบบสมการทุกก้าวเวลา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อ้างอิง: E. Kreyszig, Advanced Engineering Mathematics, §12.6 (คำตอบแม่นตรงด้วยอนุกรมฟูเรียร์) และ §21.6 (Methods for Parabolic PDEs)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วิธี Explicit สมการความร้อน">
  <a:themeElements>
    <a:clrScheme name="วิธี Explicit สมการความร้อน">
      <a:dk1>
        <a:srgbClr val="18202B"/>
      </a:dk1>
      <a:lt1>
        <a:srgbClr val="F4F6F8"/>
      </a:lt1>
      <a:dk2>
        <a:srgbClr val="4F565E"/>
      </a:dk2>
      <a:lt2>
        <a:srgbClr val="DEE1E4"/>
      </a:lt2>
      <a:accent1>
        <a:srgbClr val="B4381F"/>
      </a:accent1>
      <a:accent2>
        <a:srgbClr val="F08A5D"/>
      </a:accent2>
      <a:accent3>
        <a:srgbClr val="2B5C9E"/>
      </a:accent3>
      <a:accent4>
        <a:srgbClr val="F2C14E"/>
      </a:accent4>
      <a:accent5>
        <a:srgbClr val="6A9BD1"/>
      </a:accent5>
      <a:accent6>
        <a:srgbClr val="E8743B"/>
      </a:accent6>
      <a:hlink>
        <a:srgbClr val="0563C1"/>
      </a:hlink>
      <a:folHlink>
        <a:srgbClr val="954F72"/>
      </a:folHlink>
    </a:clrScheme>
    <a:fontScheme name="วิธี Explicit สมการความร้อน">
      <a:majorFont>
        <a:latin typeface="Noto Serif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วิธี Explicit สมการความร้อน</dc:title>
  <dc:subject/>
  <dc:creator/>
  <cp:lastModifiedBy/>
  <cp:revision>1</cp:revision>
  <dcterms:created xsi:type="dcterms:W3CDTF">2026-10-08T08:57:10Z</dcterms:created>
  <dcterms:modified xsi:type="dcterms:W3CDTF">2026-10-08T08:57:10Z</dcterms:modified>
</cp:coreProperties>
</file>